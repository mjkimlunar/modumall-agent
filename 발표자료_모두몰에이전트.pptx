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모두몰 고객응대 에이전트 — 성능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77824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98781"/>
                </a:solidFill>
                <a:latin typeface="맑은 고딕"/>
              </a:rPr>
              <a:t>실패 사례를 하나씩 읽고 고침 · 판단 기준은 전부 매뉴얼에서 인용 · 평가 기준(evaluate.py)은 미수정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566160" cy="42062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wrap="none" lIns="13716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①  주요 개선점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29968"/>
            <a:ext cx="3566160" cy="446227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라우팅 경계 규칙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매뉴얼 조항을 그대로 인용해 예시화 (§1.1 · §2.4 · §5.4)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조회 절차화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세부 속성·재입고·반품 기간을 빠뜨리지 않게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상품 검색 재설계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부분 문자열 동점으로 엉뚱한 상품을 고르던 문제 해소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오안내 3건 수정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A/S 안내 · 반복 문의 이관 · 미확정을 확정으로 단정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→ 셋 다 채점에 안 잡히던 버그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463040"/>
            <a:ext cx="3566160" cy="420624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txBody>
          <a:bodyPr wrap="none" lIns="13716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②  지표 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029968"/>
            <a:ext cx="3566160" cy="446227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34840" y="2103120"/>
          <a:ext cx="3566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64008" marR="64008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0B0B"/>
                          </a:solidFill>
                          <a:latin typeface="맑은 고딕"/>
                        </a:rPr>
                        <a:t>기준선</a:t>
                      </a:r>
                    </a:p>
                  </a:txBody>
                  <a:tcPr anchor="ctr" marL="64008" marR="64008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0B0B"/>
                          </a:solidFill>
                          <a:latin typeface="맑은 고딕"/>
                        </a:rPr>
                        <a:t>최종</a:t>
                      </a:r>
                    </a:p>
                  </a:txBody>
                  <a:tcPr anchor="ctr" marL="64008" marR="64008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2514E"/>
                          </a:solidFill>
                          <a:latin typeface="맑은 고딕"/>
                        </a:rPr>
                        <a:t>의도 분류 정확도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2514E"/>
                          </a:solidFill>
                          <a:latin typeface="맑은 고딕"/>
                        </a:rPr>
                        <a:t>0.942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AF7A"/>
                          </a:solidFill>
                          <a:latin typeface="맑은 고딕"/>
                        </a:rPr>
                        <a:t>0.980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2514E"/>
                          </a:solidFill>
                          <a:latin typeface="맑은 고딕"/>
                        </a:rPr>
                        <a:t>의도 분류 macro F1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2514E"/>
                          </a:solidFill>
                          <a:latin typeface="맑은 고딕"/>
                        </a:rPr>
                        <a:t>0.945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AF7A"/>
                          </a:solidFill>
                          <a:latin typeface="맑은 고딕"/>
                        </a:rPr>
                        <a:t>0.984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2514E"/>
                          </a:solidFill>
                          <a:latin typeface="맑은 고딕"/>
                        </a:rPr>
                        <a:t>1턴 답변 통과율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2514E"/>
                          </a:solidFill>
                          <a:latin typeface="맑은 고딕"/>
                        </a:rPr>
                        <a:t>57.3%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AF7A"/>
                          </a:solidFill>
                          <a:latin typeface="맑은 고딕"/>
                        </a:rPr>
                        <a:t>77.1%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2514E"/>
                          </a:solidFill>
                          <a:latin typeface="맑은 고딕"/>
                        </a:rPr>
                        <a:t>실전 자동화율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2514E"/>
                          </a:solidFill>
                          <a:latin typeface="맑은 고딕"/>
                        </a:rPr>
                        <a:t>7.5%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AF7A"/>
                          </a:solidFill>
                          <a:latin typeface="맑은 고딕"/>
                        </a:rPr>
                        <a:t>12.5%</a:t>
                      </a:r>
                    </a:p>
                  </a:txBody>
                  <a:tcPr anchor="ctr" marL="64008" marR="64008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34840" y="416052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라우팅 오분류 7건 → 2건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경계 예시 3~4개만으로, 코드 수정 없이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비용 +37%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1회 호출 5,024 → 6,881 토큰 · 1만 건 ≈ 57,800원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모든 수치는 3회 평균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같은 입력도 ±9%p 흔들려 단일 측정은 쓰지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3566160" cy="42062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txBody>
          <a:bodyPr wrap="none" lIns="13716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③  개선하지 못한 점 /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29968"/>
            <a:ext cx="3566160" cy="446227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남은 실패 6건 = 채점기 한계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동의어·띄어쓰기·표기 차이, 도구 부르면 무조건 ANSWER 판정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데이터 스키마 한계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옵션별 재고·수령일이 조회에 없어 계산 불가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자동화율 12.5%의 벽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문의 77.5%가 상품명 자체를 말하지 않음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멀티턴 2차 턴이 가장 약함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98781"/>
                </a:solidFill>
                <a:latin typeface="맑은 고딕"/>
              </a:rPr>
              <a:t>1차 대비 약 30%p 낮음 · 한 번도 재지 않던 구간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52514E"/>
                </a:solidFill>
                <a:latin typeface="맑은 고딕"/>
              </a:rPr>
              <a:t>→ 재는 곳만 좋아지고, 안 재는 곳은 조용히 틀린 채로 남는다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